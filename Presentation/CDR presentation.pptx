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008B8B"/>
    <a:srgbClr val="E74C3C"/>
    <a:srgbClr val="102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3716-20EF-B2DE-3DFF-11351C30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2D81E-74E3-4BB1-9179-14499F5D2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E4BEF-629F-1D53-5DAD-D3411750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54BD-4030-D092-F72C-2F35C61D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05770-A6A3-449B-B985-5F5874CE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8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70D1-54DF-FF0E-9EA1-DF48EEB5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BF9B-97A4-5268-9213-6C71A500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DBA03-DDA5-362F-27F7-D7AC0365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DF3E9-B0D1-4644-09E0-D8DF7982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7DE3-B960-244E-1848-F0B2047C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27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B4D0-0B32-8603-8045-A70BDB3B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E55D3-1B34-B812-7D0D-E06C7EDD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1381-7F56-910F-7E71-07D62976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659EE-5B31-5BD7-4740-56BC5F10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CCF2D-8F56-7A9C-88F2-DC6D4D16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38BD-3673-DE0E-1859-ECB5CF72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1D5E-71C8-298F-F041-3932F3AF2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FAF15-4029-8E29-01B9-17BBBD9E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4C24-29D5-59E7-93F8-1FE286FE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EC94A-CB07-41CA-5D5D-650B6E61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0BAEB-88C7-260B-1A60-8598B099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7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9BE7-4679-B303-FAD1-DEA9772B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1BC58-512A-1944-751B-82D901D23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B3193-C811-806B-1B3E-190ACAD4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D39FD-CF8B-E0A4-AC7B-D43132D96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2BE06-B21E-EC84-F174-D149B00D5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FCE4B-9AC7-46FD-5A29-6F215B6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D19E0-E55D-B5DE-2768-C6FE8A4C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088B0-DB9E-3552-ADD8-F7B21372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8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BF0C-91A0-AD18-CF12-0CA84D2B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7D573-52F2-E8E4-B4BD-0CD8C1B0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612FB-3403-B6E4-E0EB-30F0A2D1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5265E-C117-7F0B-E3F8-1BE090B3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0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DE19A-947F-F2A4-9536-8C073098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4ECED-5AB2-1AA6-3238-6B6F0444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033A8-7D7D-A08B-7843-05467689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7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7007-627F-A669-7511-9C5B87ED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ABCAC-5DDF-1E29-54FF-D85A0D7D1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CD915-E815-8FB5-0769-57408E748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B149D-1234-00DE-193E-DC32648B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64DBD-1A6F-D806-55FB-1ABF12E8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5E9D-71EF-58EF-6EFC-592074DD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6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D499-393C-ED02-731B-20EA909A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65255-7141-B1D3-8D3F-F8CDD8227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D88D8-E131-43A0-813E-44DE81BFD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455A-DF26-A532-2EF0-3BD30FB5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AE6B-8996-221B-701A-FE84BF47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433E-8D67-2F31-4245-2B7A1219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4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2E37-56F3-6EF3-0AA0-EAB8FF2F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F5E06-4556-1063-052C-24B6B4F9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3365-AF10-4779-EBE2-604ABC35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78C3-2835-800A-8292-76D4D547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67B9-DF89-3C0A-D172-110A4812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88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F8B65-A0D4-BCCE-7D65-A045035F6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9C995-5127-8305-328A-AFDDD8E2D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3CB3F-B2C5-ECFA-8A2A-64A7D247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0E13-8DED-A4E6-059D-131C7929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04CE-C26D-F238-0B66-9B98A5EC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7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79C80-E476-01C4-BD6A-542233E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B089-BCC2-036D-1DAD-6E8419444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46189-1DB5-F666-0A51-9C0D8680E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0DD14-0874-40AC-98B6-A766FB06931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549DB-E9F3-6CF1-F0E5-53A06698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F4A1-FE79-19C1-0465-EC72C1602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7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502920" cy="685800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4508" y="0"/>
            <a:ext cx="64008" cy="685800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4548" y="1097280"/>
            <a:ext cx="10515600" cy="38404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4548" y="1097280"/>
            <a:ext cx="64008" cy="384048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8868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</a:rPr>
              <a:t>TELECOM CDR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868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0C5CD"/>
                </a:solidFill>
              </a:rPr>
              <a:t>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868" y="3246121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A0B4C8"/>
                </a:solidFill>
              </a:rPr>
              <a:t>End-to-End Data Engineering Project  |  Wipro Assessment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886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886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886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86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CDR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490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0490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490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490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Notebooks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094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094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094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094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DWH 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698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698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698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698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Security Roles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</a:t>
            </a:r>
            <a:r>
              <a:rPr sz="900" dirty="0">
                <a:solidFill>
                  <a:srgbClr val="A0B4C8"/>
                </a:solidFill>
              </a:rPr>
              <a:t> Sahoo  |  Wipro CDR Analytics Platform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Telecom CDR Analytics Platform — Wipro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325880"/>
            <a:ext cx="365760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709928"/>
            <a:ext cx="3657600" cy="44805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Simulate real-world telecom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CDR analytics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Process 50,000 Call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Records 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50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Demonstrate full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Engineering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9268" y="1325880"/>
            <a:ext cx="36576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642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9268" y="1709928"/>
            <a:ext cx="3657600" cy="44805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642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Python 3.12 + 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42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Apache PySpark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42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Snowflake Cloud DWH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642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Tableau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42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Google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642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Draw.io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1188" y="1325880"/>
            <a:ext cx="36576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834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DELIVERABLES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1188" y="1709928"/>
            <a:ext cx="3657600" cy="44805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834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7 Colab Notebooks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834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SQL Scripts (8 sections)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834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Tableau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834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Architecture Diagram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834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GitHub 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834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PPT Presentation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Complete data flow from generation to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965960"/>
            <a:ext cx="20116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734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DATA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Python Generator
50K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902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9067" y="1965960"/>
            <a:ext cx="201168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9067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STAGING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9067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9067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Snowflake
STG_CDR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74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0788" y="1965960"/>
            <a:ext cx="20116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3078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ETL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078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078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Python ETL
0%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246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2507" y="1965960"/>
            <a:ext cx="2011680" cy="36576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2507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DWH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2507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2507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FACT_CDR
Star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418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4228" y="1965960"/>
            <a:ext cx="20116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422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422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422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Views +
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348" y="3566160"/>
            <a:ext cx="265176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734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⚡ APACHE 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34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78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Batch Processing
Real-time Streaming
PySpark 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3428" y="3566160"/>
            <a:ext cx="265176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342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❄️ OPTIMIZATION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342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486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Clustering Keys
Time Travel 7 Days
JSON VARIANT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9508" y="3566160"/>
            <a:ext cx="26517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950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🔒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950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1094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RBAC 3 Roles
Data Masking
Audit Logging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5588" y="3566160"/>
            <a:ext cx="26517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558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🚀 PERFORMANCE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558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702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3 Secure Views
Advanced SQL
Window Functions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7348" y="5303520"/>
            <a:ext cx="11430000" cy="41148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7348" y="530352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C5CD"/>
                </a:solidFill>
              </a:rPr>
              <a:t>🔗 </a:t>
            </a:r>
            <a:r>
              <a:rPr lang="en-IN" sz="1200" b="1" dirty="0">
                <a:solidFill>
                  <a:srgbClr val="00C5CD"/>
                </a:solidFill>
              </a:rPr>
              <a:t>https://github.com/bismayapikun/Telecom-CDR-Analytics-Platform</a:t>
            </a:r>
            <a:endParaRPr sz="1200" b="1" dirty="0">
              <a:solidFill>
                <a:srgbClr val="00C5CD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31F7487-ABA2-97C1-7BDD-71E67909D4E1}"/>
              </a:ext>
            </a:extLst>
          </p:cNvPr>
          <p:cNvSpPr/>
          <p:nvPr/>
        </p:nvSpPr>
        <p:spPr>
          <a:xfrm>
            <a:off x="4485967" y="4446917"/>
            <a:ext cx="2912428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WAREHOUSE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Snowflake Star Schema — TELECOM_DWH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5967" y="4105618"/>
            <a:ext cx="2912428" cy="341077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5967" y="4471418"/>
            <a:ext cx="9361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CALL_ID 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5422" y="4667995"/>
            <a:ext cx="1416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DATE_KEY  →  DIM_DATE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5967" y="4892162"/>
            <a:ext cx="1896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CALLER_KEY  →  DIM_SUBSCRIBER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2815" y="5088739"/>
            <a:ext cx="1952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CELL_KEY  →  DIM_CELL_TOWER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6133" y="5303636"/>
            <a:ext cx="20691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CALL_TYPE_KEY  →  DIM_CALL_TYPE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829" y="5505135"/>
            <a:ext cx="2023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DURATION | CHARGE | IS_FRAUD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427" y="5842908"/>
            <a:ext cx="16390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5A623"/>
                </a:solidFill>
              </a:rPr>
              <a:t>50,000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961" y="1398325"/>
            <a:ext cx="28346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401" y="143490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961" y="1745797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689" y="178237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DATE_KEY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689" y="205669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FULL_DATE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689" y="23310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MONTH_NAME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689" y="260533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YEAR_NUM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689" y="28796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IS_WEEKEND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689" y="315397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366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092" y="4105618"/>
            <a:ext cx="28346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532" y="4142194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092" y="4453091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5820" y="448966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SUBSCRIBER_KEY (PK)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820" y="476398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MSISDN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820" y="503830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PLAN_TYPE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820" y="531262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CITY/STATE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820" y="558694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SCD Type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820" y="586126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500 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9127" y="1398325"/>
            <a:ext cx="283464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0567" y="143490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DIM_CELL_TOWER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89127" y="1745797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98855" y="178237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CELL_KEY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98855" y="205669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8855" y="23310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8855" y="260533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LAT/LONG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8855" y="28796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8855" y="315397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 Rows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6948" y="4099445"/>
            <a:ext cx="28346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8388" y="413602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DIM_CALL_TYPE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6948" y="4446918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06676" y="448349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CALL_TYPE_KEY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6676" y="47578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6676" y="503213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6676" y="53064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DESCRIPTION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6676" y="5580773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06676" y="585509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4 Rows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63756" y="1400967"/>
            <a:ext cx="283464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55195" y="1437543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DIM_ZONE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63755" y="1732869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4673484" y="178501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ZONE_KEY (PK)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73484" y="205933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73484" y="233365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73484" y="260797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REGION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3484" y="2882295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73484" y="315661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 Rows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9974" y="4092158"/>
            <a:ext cx="17418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0253F"/>
                </a:solidFill>
              </a:rPr>
              <a:t>FACT_CDR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STG_CDR  →  FACT_CDR  |  50,000 Records  |  0% Data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26517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1  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Read STG_CDR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50,000 raw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Pandas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All 14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10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3428" y="1280160"/>
            <a:ext cx="265176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058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2  TRANSFORM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342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058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Load 4 dim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058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Map surrogate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058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Validate all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058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0 records dropped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518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9508" y="1280160"/>
            <a:ext cx="26517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666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3  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950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666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Batch size: 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6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 batches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66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executemany() insert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666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52 seconds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126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5588" y="1280160"/>
            <a:ext cx="2651760" cy="384048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274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4  VALIDATE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558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274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50,000 rows loaded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274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500 unique callers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274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₹59,405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274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100% integrity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7348" y="3794760"/>
            <a:ext cx="11430000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7348" y="379476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5CD"/>
                </a:solidFill>
              </a:rPr>
              <a:t>PIPELINE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34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734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734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34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Extracted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758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28758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8758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758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Loaded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782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0782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0782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782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Dropped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806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2806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806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806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Callers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830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4830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830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₹59,405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830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Revenue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854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96854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6854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52s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854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Runtime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ADVANCED SQL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CTEs  |  Window Functions  |  Fraud Detection  |  Network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908" y="1280160"/>
            <a:ext cx="34747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563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Q1  Monthly Revenue 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908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067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CTE + LAG() Window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7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Month-over-Month Growth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067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Revenue Share 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067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12 months analysed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9227" y="1280160"/>
            <a:ext cx="347472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895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Q2  Customer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9227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6388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RANK() + NTILE(4)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6388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PLATINUM/GOLD/SILVER/BRONZE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6388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Top 10 by total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6388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Services used per customer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2548" y="1280160"/>
            <a:ext cx="347472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227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Q3  Fraud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2548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9708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Rolling 7-Day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9708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ROWS BETWEEN 6 PRECEDING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9708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Daily fraud rate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9708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250 fraud calls 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908" y="3566160"/>
            <a:ext cx="347472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637" y="3602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Q4  Network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908" y="3913632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3067" y="3977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RANK() with PARTITION 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067" y="4343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Drop rate by network/type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67" y="470916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16 row result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067" y="5074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Reliability ranking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9227" y="3566160"/>
            <a:ext cx="3474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88957" y="3602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Q5  Cell Tower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9227" y="3913632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6388" y="3977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Revenue per tower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6388" y="4343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Dropped call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6388" y="470916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Fraud rate per tower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6388" y="5074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5 towers ranked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2548" y="3566160"/>
            <a:ext cx="4206240" cy="347472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2276" y="3602736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KEY SQL FEATURES USED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2548" y="3913632"/>
            <a:ext cx="4206240" cy="15544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9708" y="3977640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CTE (Common Table Expressions)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9708" y="4270249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LAG() / LEAD() Window Functions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9708" y="4562856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RANK() / NTILE() / ROW_NUMBER()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9708" y="4855465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ROWS BETWEEN (Rolling Windows)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9708" y="5148073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PARTITION BY / ORDER BY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SNOWFLAKE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Clustering  |  Time Travel  |  Semi-Structured Data  | 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365760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❄️  CLUSTERING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ALTER TABLE FACT_CDR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CLUSTER BY (DATE_KEY)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Faster date-range scans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Applied to STG_CDR too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9268" y="1280160"/>
            <a:ext cx="3657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642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⏱️  TIME TRAVEL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926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642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7-day data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42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DELETE 138 records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42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Recovered 100%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42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BEFORE (STATEMENT =&gt;)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1188" y="1280160"/>
            <a:ext cx="3657600" cy="36576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834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📄  SEMI-STRUCTURED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118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834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CDR_JSON VARIANT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34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PARSE_JSON()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834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1,000 records as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834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Query with : notation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348" y="3520440"/>
            <a:ext cx="11430000" cy="3657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348" y="352044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5CD"/>
                </a:solidFill>
              </a:rPr>
              <a:t>🚀  SECURE VIEWS — ANALYTICS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348" y="3931920"/>
            <a:ext cx="3657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878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VW_MONTHLY_REVENUE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34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50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Monthly revenue by call type
Year/Month/Call Type breakdown
Unique callers 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9268" y="3931920"/>
            <a:ext cx="36576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9070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VW_CUSTOMER_SUMMARY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926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642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Customer-level aggregation
Total calls, revenue, fraud count
Roaming count per customer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1188" y="3931920"/>
            <a:ext cx="365760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262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VW_NETWORK_PERFORMANCE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118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834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Network drop rate analysis
4G / 5G / 3G / 2G breakdown
Reliability by call 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RBAC  |  Data Masking  |  Row Access Policy  |  Audit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8932" y="1719526"/>
            <a:ext cx="3749039" cy="446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91" y="1796612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🔒  </a:t>
            </a:r>
            <a:r>
              <a:rPr sz="1200" b="1" dirty="0">
                <a:solidFill>
                  <a:srgbClr val="0A2942"/>
                </a:solidFill>
              </a:rPr>
              <a:t>RBAC — 3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932" y="251025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091" y="25285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932" y="283029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091" y="286687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Full access to all schemas,
tables and warehouses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932" y="351609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091" y="353438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932" y="383613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091" y="387271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Read+Write STAGING,
Read-only DWH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932" y="452193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091" y="454022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932" y="484197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091" y="487855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Read-only access
to DWH layer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9269" y="1720214"/>
            <a:ext cx="3749039" cy="446175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6428" y="1805571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🎭  </a:t>
            </a:r>
            <a:r>
              <a:rPr sz="1200" b="1" dirty="0">
                <a:solidFill>
                  <a:srgbClr val="0A2942"/>
                </a:solidFill>
              </a:rPr>
              <a:t>DATA MASKING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9269" y="251726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6428" y="253555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CALLING_NUMBER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9269" y="283730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6428" y="287388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91XX ******** XX
(non-admin roles)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9269" y="352310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6428" y="354139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CALLED_NUMBER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9269" y="384314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6428" y="387972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91XX ******** XX
(non-admin roles)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9269" y="452894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6428" y="454723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CHARGE_AMOUNT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9269" y="484898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6428" y="488556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Returns NULL
(non-admin roles)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2628" y="1722119"/>
            <a:ext cx="3657600" cy="433745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2629" y="1772455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A2942"/>
                </a:solidFill>
              </a:rPr>
              <a:t>📋  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2628" y="249631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9788" y="251460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Row Access Policy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2628" y="281635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9788" y="285292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CDR_ROW_ACCESS
Filters by NETWORK_TYPE
Role-based row visibility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2628" y="350215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59788" y="35204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Data Tags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2628" y="382219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9788" y="385876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DATA_SENSITIVITY tag
CONFIDENTIAL / RESTRICTED
Applied to 4 columns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2628" y="450799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9788" y="45262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Audit 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2628" y="482803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9788" y="486460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AUDIT_LOG table
6 logged events
User/Role/Table/Action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APACHE SPARK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Batch Processing  +  Real-time Streaming Simulation  |  PySpark 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54864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29844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⚡  SPARK BATCH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45920"/>
            <a:ext cx="5486400" cy="29443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0992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Read 50,000 CDR records from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85416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Revenue analysis by call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660904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Top 10 customers by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3136392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Network performance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508" y="361188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Fraud rate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8" y="408736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Drop rate by cell tower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2388" y="1280160"/>
            <a:ext cx="54864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9548" y="129844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SPARK STREAMING SIMULATION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2388" y="1645920"/>
            <a:ext cx="5486400" cy="29443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9548" y="170992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Real-time CDR generation in batches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9548" y="2185416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500ms micro-batch intervals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9548" y="2660904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Live fraud detection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9548" y="3136392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Network drop rate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9548" y="361188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 micro-batches demonstrated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9548" y="408736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Structured Streaming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3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3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3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PySpark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3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91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391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391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91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09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109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09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09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Micro-batches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27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827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27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500ms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27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Interval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502920" cy="685800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4508" y="0"/>
            <a:ext cx="64008" cy="685800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8516" y="0"/>
            <a:ext cx="11622024" cy="54864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5988" y="36576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PROJECT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5988" y="1097281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A0B4C8"/>
                </a:solidFill>
              </a:rPr>
              <a:t>All deliverables successfully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5988" y="1554480"/>
            <a:ext cx="10515600" cy="42519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5988" y="16733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3148" y="16276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Data Warehouse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3628" y="16276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Star Schema — FACT_CDR + 5 Dimension Tables — Snowflake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988" y="21305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3148" y="20848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Advanced SQL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3628" y="20848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5 Queries — CTEs, Window Functions, Rolling Averages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5988" y="25877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3148" y="25420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ETL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628" y="25420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Python — 50,000 records — 0% data loss — 52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988" y="30449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3148" y="29992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Apache 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3628" y="29992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Batch Processing + Real-time Streaming — PySpark 4.0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988" y="35021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3148" y="34564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Snowflake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3628" y="34564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Clustering Keys + Time Travel + Semi-Structured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988" y="39593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148" y="39136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Security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3628" y="39136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RBAC + Data Masking + Row Policy + Audit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988" y="44165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3148" y="43708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Performance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3628" y="43708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3 Secure Views + Query Optimization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988" y="48737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3148" y="48280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Tableau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3628" y="48280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7 Interactive Charts — Revenue, Fraud, Network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5988" y="53309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3148" y="52852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GitHub Repository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3628" y="52852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Complete codebase, README, SQL, Architecture Diagram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A0B4C8"/>
                </a:solidFill>
              </a:rPr>
              <a:t>Bismaya Ranjan Sahoo </a:t>
            </a:r>
            <a:r>
              <a:rPr sz="900" dirty="0">
                <a:solidFill>
                  <a:srgbClr val="A0B4C8"/>
                </a:solidFill>
              </a:rPr>
              <a:t>|  Wipro CDR Analytics Platform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1291</Words>
  <Application>Microsoft Office PowerPoint</Application>
  <PresentationFormat>Widescreen</PresentationFormat>
  <Paragraphs>274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Sahoo</dc:creator>
  <cp:lastModifiedBy>Bismaya Ranjan Sahoo</cp:lastModifiedBy>
  <cp:revision>4</cp:revision>
  <dcterms:created xsi:type="dcterms:W3CDTF">2026-02-23T08:13:13Z</dcterms:created>
  <dcterms:modified xsi:type="dcterms:W3CDTF">2026-02-23T19:01:21Z</dcterms:modified>
  <cp:contentStatus/>
</cp:coreProperties>
</file>